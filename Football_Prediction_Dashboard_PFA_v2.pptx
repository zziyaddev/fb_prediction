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743200" cy="2743200"/>
          </a:xfrm>
          <a:prstGeom prst="ellipse">
            <a:avLst/>
          </a:prstGeom>
          <a:solidFill>
            <a:srgbClr val="2DD4B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2926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Football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4B8A6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 Light"/>
              </a:defRPr>
            </a:pPr>
            <a:r>
              <a:t>Analyse et Prediction des Resultats en Temps Reel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31920"/>
            <a:ext cx="27432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Projet de Fin d'Annee  |  3IIR  |  2025 - 2026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5E1"/>
                </a:solidFill>
                <a:latin typeface="Calibri Light"/>
              </a:defRPr>
            </a:pPr>
            <a:r>
              <a:t>Z. Zerrari    M. Aboujid    I. Hajjad    M.A. Ziyani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Encadrante : Pr. Wafae ELKAYSOUNI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23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Ecole Marocaine des Sciences de l'Ingenieur - EMSI Tanger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41732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Contexte &amp; Enjeux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801368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130552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579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305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Objectifs du Projet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514600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843784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712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437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Etat de l'Art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227832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557016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5570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Cahier des Charges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941064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270248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70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Stack Technique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654296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98348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10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Moteur 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5367528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569671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7241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696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Architecture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6080760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4447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Conception BDD &amp;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1801368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0" y="213055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1579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21305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Implementation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2514600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0" y="2843784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8712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8437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Implementation Frontend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60" y="3227832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00800" y="3557016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584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35570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Tests &amp; Resultats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3941064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00800" y="4270248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297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4270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Limites &amp; Perspectives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95160" y="4654296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00800" y="498348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0109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Conclusion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95160" y="5367528"/>
            <a:ext cx="39319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Contexte &amp; Enjeux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L'ere du Big Data dans l'analyse sportive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 Light"/>
              </a:defRPr>
            </a:pPr>
            <a:r>
              <a:t>Le football genere des volumes massifs de donnees.</a:t>
            </a:r>
            <a:br/>
            <a:r>
              <a:t>Le defi : les transformer en predictions exploitables.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1828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743200"/>
            <a:ext cx="16459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Donnees Brutes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API-Football</a:t>
            </a:r>
          </a:p>
        </p:txBody>
      </p:sp>
      <p:sp>
        <p:nvSpPr>
          <p:cNvPr id="15" name="Chevron 14"/>
          <p:cNvSpPr/>
          <p:nvPr/>
        </p:nvSpPr>
        <p:spPr>
          <a:xfrm>
            <a:off x="2834640" y="3063240"/>
            <a:ext cx="502920" cy="201168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743200"/>
            <a:ext cx="1828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743200"/>
            <a:ext cx="16459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Machine Learning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5120640" y="3063240"/>
            <a:ext cx="502920" cy="201168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0" y="2743200"/>
            <a:ext cx="1828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2743200"/>
            <a:ext cx="16459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H / D /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63040"/>
            <a:ext cx="19202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6002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4B8A6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Victoire Domicile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463040"/>
            <a:ext cx="19202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6002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4B8A6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Victoire Exterieur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017520"/>
            <a:ext cx="4114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154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BBF24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Match Nul - Le plus difficile a predire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 Light"/>
              </a:defRPr>
            </a:pPr>
            <a:r>
              <a:t>Donnees exploitees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29200"/>
            <a:ext cx="16459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Possession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5029200"/>
            <a:ext cx="16459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Tirs cadres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5029200"/>
            <a:ext cx="16459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Passes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029200"/>
            <a:ext cx="16459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Forme recente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029200"/>
            <a:ext cx="16459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Compositions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5029200"/>
            <a:ext cx="16459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Cotes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Objectifs du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4 axes strategiques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2286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08760" y="1920240"/>
            <a:ext cx="914400" cy="914400"/>
          </a:xfrm>
          <a:prstGeom prst="ellipse">
            <a:avLst/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0200" y="201168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 Light"/>
              </a:defRPr>
            </a:pPr>
            <a:r>
              <a:t>Ingestion Auto.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Collecte automatique des</a:t>
            </a:r>
            <a:br/>
            <a:r>
              <a:t>donnees historiques et</a:t>
            </a:r>
            <a:br/>
            <a:r>
              <a:t>tactiques via API-Football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155448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19" y="1554480"/>
            <a:ext cx="2286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89119" y="1920240"/>
            <a:ext cx="914400" cy="914400"/>
          </a:xfrm>
          <a:prstGeom prst="ellipse">
            <a:avLst/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0559" y="201168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59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 Light"/>
              </a:defRPr>
            </a:pPr>
            <a:r>
              <a:t>Prediction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59" y="40233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Machine Learning pour</a:t>
            </a:r>
            <a:br/>
            <a:r>
              <a:t>calculer les probabilites</a:t>
            </a:r>
            <a:br/>
            <a:r>
              <a:t>Domicile / Nul / Exterieur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55448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1554480"/>
            <a:ext cx="2286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69480" y="1920240"/>
            <a:ext cx="914400" cy="914400"/>
          </a:xfrm>
          <a:prstGeom prst="ellipse">
            <a:avLst/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60920" y="201168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 Light"/>
              </a:defRPr>
            </a:pPr>
            <a: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0233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Interface moderne et</a:t>
            </a:r>
            <a:br/>
            <a:r>
              <a:t>ergonomique pour la</a:t>
            </a:r>
            <a:br/>
            <a:r>
              <a:t>prise de decision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554480"/>
            <a:ext cx="26517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64039" y="1554480"/>
            <a:ext cx="2286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9839" y="1920240"/>
            <a:ext cx="914400" cy="914400"/>
          </a:xfrm>
          <a:prstGeom prst="ellipse">
            <a:avLst/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41279" y="201168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79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79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79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 Light"/>
              </a:defRPr>
            </a:pPr>
            <a:r>
              <a:t>Securite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79" y="40233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Authentification JWT</a:t>
            </a:r>
            <a:br/>
            <a:r>
              <a:t>avec gestion de roles</a:t>
            </a:r>
            <a:br/>
            <a:r>
              <a:t>Utilisateur /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Etat de l'Art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Evolution des approches de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148840"/>
            <a:ext cx="960120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1920240"/>
            <a:ext cx="502920" cy="5029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1993392"/>
            <a:ext cx="356616" cy="3566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19072" y="2039112"/>
            <a:ext cx="265176" cy="26517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 Light"/>
              </a:defRPr>
            </a:pPr>
            <a:r>
              <a:t>1982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Poisson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Modelisation</a:t>
            </a:r>
            <a:br/>
            <a:r>
              <a:t>statistique des buts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1920240"/>
            <a:ext cx="502920" cy="5029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33672" y="1993392"/>
            <a:ext cx="356616" cy="3566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79392" y="2039112"/>
            <a:ext cx="265176" cy="26517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 Light"/>
              </a:defRPr>
            </a:pPr>
            <a:r>
              <a:t>1997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Dixon &amp; Coles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383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Correction pour</a:t>
            </a:r>
            <a:br/>
            <a:r>
              <a:t>scores faibles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1920240"/>
            <a:ext cx="502920" cy="5029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93992" y="1993392"/>
            <a:ext cx="356616" cy="3566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39712" y="2039112"/>
            <a:ext cx="265176" cy="26517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 Light"/>
              </a:defRPr>
            </a:pPr>
            <a:r>
              <a:t>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ML Frameworks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383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Random Forest,</a:t>
            </a:r>
            <a:br/>
            <a:r>
              <a:t>SVM, Boosting</a:t>
            </a:r>
          </a:p>
        </p:txBody>
      </p:sp>
      <p:sp>
        <p:nvSpPr>
          <p:cNvPr id="29" name="Oval 28"/>
          <p:cNvSpPr/>
          <p:nvPr/>
        </p:nvSpPr>
        <p:spPr>
          <a:xfrm>
            <a:off x="9281159" y="192024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39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 Light"/>
              </a:defRPr>
            </a:pPr>
            <a:r>
              <a:t>2016+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39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39" y="3383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Gradient Boosting</a:t>
            </a:r>
            <a:br/>
            <a:r>
              <a:t>a l'etat de l'art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89120"/>
            <a:ext cx="108813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 Light"/>
              </a:defRPr>
            </a:pPr>
            <a:r>
              <a:t>Pourquoi XGBoost ?</a:t>
            </a:r>
          </a:p>
        </p:txBody>
      </p:sp>
      <p:sp>
        <p:nvSpPr>
          <p:cNvPr id="35" name="Oval 34"/>
          <p:cNvSpPr/>
          <p:nvPr/>
        </p:nvSpPr>
        <p:spPr>
          <a:xfrm>
            <a:off x="1280160" y="50292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056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Correction sequentielle</a:t>
            </a:r>
            <a:br/>
            <a:r>
              <a:t>des erreurs</a:t>
            </a:r>
          </a:p>
        </p:txBody>
      </p:sp>
      <p:sp>
        <p:nvSpPr>
          <p:cNvPr id="39" name="Oval 38"/>
          <p:cNvSpPr/>
          <p:nvPr/>
        </p:nvSpPr>
        <p:spPr>
          <a:xfrm>
            <a:off x="4023359" y="50292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59" y="5056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9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Regularisation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39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Evite le sur-apprentissage</a:t>
            </a:r>
            <a:br/>
            <a:r>
              <a:t>via penalites</a:t>
            </a:r>
          </a:p>
        </p:txBody>
      </p:sp>
      <p:sp>
        <p:nvSpPr>
          <p:cNvPr id="43" name="Oval 42"/>
          <p:cNvSpPr/>
          <p:nvPr/>
        </p:nvSpPr>
        <p:spPr>
          <a:xfrm>
            <a:off x="6766560" y="50292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5056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Multi-classe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Probabilites pour</a:t>
            </a:r>
            <a:br/>
            <a:r>
              <a:t>H / D / A via Softmax</a:t>
            </a:r>
          </a:p>
        </p:txBody>
      </p:sp>
      <p:sp>
        <p:nvSpPr>
          <p:cNvPr id="47" name="Oval 46"/>
          <p:cNvSpPr/>
          <p:nvPr/>
        </p:nvSpPr>
        <p:spPr>
          <a:xfrm>
            <a:off x="9509760" y="50292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5056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Performance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Etat de l'art sur les</a:t>
            </a:r>
            <a:br/>
            <a:r>
              <a:t>donnees tabulaires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Cahier des Charges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Exigences fonctionnelles et non-fonctionnelles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 Light"/>
              </a:defRPr>
            </a:pPr>
            <a:r>
              <a:t>Utilisateur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01168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Consulter le calendrier des matchs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1460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60604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606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Analyser les compositions tactiques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0896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20040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72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Demander une prediction IA (probabilites)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79476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Comparer les equipes via Radar Chart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 Light"/>
              </a:defRPr>
            </a:pPr>
            <a:r>
              <a:t>Administrateur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2024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0" y="201168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984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Gestion des acces utilisateurs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51460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0" y="260604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5786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606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Synchronisation des donnees API-Football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10896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83680" y="320040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172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2004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Supervision du modele 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703320"/>
            <a:ext cx="50292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0" y="379476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794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Monitoring : accuracy &amp; confusion matrix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572000"/>
            <a:ext cx="1088136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 Light"/>
              </a:defRPr>
            </a:pPr>
            <a:r>
              <a:t>Exigences Non-Fonctionnelles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5166360"/>
            <a:ext cx="2377440" cy="10972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Securite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JWT + mots de passe chiffres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49039" y="5166360"/>
            <a:ext cx="2377440" cy="10972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19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Performance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19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Reponse IA &lt; 0.5 sec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5166360"/>
            <a:ext cx="2377440" cy="10972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Qualite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Unicite fixture_id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5166360"/>
            <a:ext cx="2377440" cy="10972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Resilience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Gestion des lineups incomplets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Stack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Technologies utilisees dans le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6400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737360"/>
            <a:ext cx="11887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Django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REST API + JWT</a:t>
            </a:r>
            <a:br/>
            <a:r>
              <a:t>Gestion du pipeline 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463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463040"/>
            <a:ext cx="6400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1737360"/>
            <a:ext cx="11887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SPA moderne</a:t>
            </a:r>
            <a:br/>
            <a:r>
              <a:t>Ant Design + Recharts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6400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0" y="1737360"/>
            <a:ext cx="11887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Gradient Boosting</a:t>
            </a:r>
            <a:br/>
            <a:r>
              <a:t>Multi-classe softprob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1480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114800"/>
            <a:ext cx="6400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4389120"/>
            <a:ext cx="11887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Zustand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94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Gestion d'etat legere</a:t>
            </a:r>
            <a:br/>
            <a:r>
              <a:t>Alternative a Redux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11480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4114800"/>
            <a:ext cx="6400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0" y="4389120"/>
            <a:ext cx="11887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Donnees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API-Football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394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Stats, lineups, resultats</a:t>
            </a:r>
            <a:br/>
            <a:r>
              <a:t>Donnees historiques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411480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4114800"/>
            <a:ext cx="6400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95360" y="4389120"/>
            <a:ext cx="11887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BDD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SQLite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394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Stockage local</a:t>
            </a:r>
            <a:br/>
            <a:r>
              <a:t>Donnees API en cache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Moteur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XGBoost + SMOTE -- une approche en 3 etapes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34747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34747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169164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Equilibrage SMOTE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Correction du desequilibre</a:t>
            </a:r>
            <a:br/>
            <a:r>
              <a:t>des classes (H/D/A)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 Light"/>
              </a:defRPr>
            </a:pPr>
            <a:r>
              <a:t>Avant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 Light"/>
              </a:defRPr>
            </a:pPr>
            <a:r>
              <a:t>Apres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 Light"/>
              </a:defRPr>
            </a:pPr>
            <a:r>
              <a:t>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3977640"/>
            <a:ext cx="1152144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 Light"/>
              </a:defRPr>
            </a:pPr>
            <a:r>
              <a:t>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4480560"/>
            <a:ext cx="576072" cy="20116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 Light"/>
              </a:defRPr>
            </a:pPr>
            <a: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983480"/>
            <a:ext cx="832103" cy="20116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60320" y="3977640"/>
            <a:ext cx="896111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4480560"/>
            <a:ext cx="896111" cy="20116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60320" y="4983480"/>
            <a:ext cx="896111" cy="20116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Calibri Light"/>
              </a:defRPr>
            </a:pPr>
            <a:r>
              <a:t>Le recall des nuls passe</a:t>
            </a:r>
            <a:br/>
            <a:r>
              <a:t>de faible a satisfaisant</a:t>
            </a:r>
          </a:p>
        </p:txBody>
      </p:sp>
      <p:sp>
        <p:nvSpPr>
          <p:cNvPr id="28" name="Chevron 27"/>
          <p:cNvSpPr/>
          <p:nvPr/>
        </p:nvSpPr>
        <p:spPr>
          <a:xfrm>
            <a:off x="4206240" y="3566160"/>
            <a:ext cx="502920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46320" y="1463040"/>
            <a:ext cx="30175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1463040"/>
            <a:ext cx="3017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89320" y="169164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25 Features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2971800"/>
            <a:ext cx="2651760" cy="384048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57800" y="306324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Forme recente (5 matchs)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0" y="3447288"/>
            <a:ext cx="2651760" cy="384048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57800" y="353872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0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Possession 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3922776"/>
            <a:ext cx="2651760" cy="384048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7800" y="4014216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9684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Tirs cadres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0" y="4398264"/>
            <a:ext cx="2651760" cy="384048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57800" y="4489704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0" y="44439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Precision passes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0" y="4873752"/>
            <a:ext cx="2651760" cy="384048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257800" y="4965192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49194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Buts marques / encaisses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20640" y="5349240"/>
            <a:ext cx="2651760" cy="384048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257800" y="544068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5394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Avantage domicile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5824728"/>
            <a:ext cx="2651760" cy="384048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57800" y="591616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5870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Corners &amp; fautes</a:t>
            </a:r>
          </a:p>
        </p:txBody>
      </p:sp>
      <p:sp>
        <p:nvSpPr>
          <p:cNvPr id="55" name="Chevron 54"/>
          <p:cNvSpPr/>
          <p:nvPr/>
        </p:nvSpPr>
        <p:spPr>
          <a:xfrm>
            <a:off x="7955279" y="3566160"/>
            <a:ext cx="502920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95360" y="1463040"/>
            <a:ext cx="3200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95360" y="1463040"/>
            <a:ext cx="3200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784080" y="169164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0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XGBoost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2880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Arbres sequentiels qui</a:t>
            </a:r>
            <a:br/>
            <a:r>
              <a:t>corrigent les erreurs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  <a:latin typeface="Calibri Light"/>
              </a:defRPr>
            </a:pPr>
            <a:r>
              <a:t>Sortie Softmax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69680" y="4114800"/>
            <a:ext cx="2743200" cy="6400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Domicile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4114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4B8A6"/>
                </a:solidFill>
                <a:latin typeface="Calibri Light"/>
              </a:defRPr>
            </a:pPr>
            <a:r>
              <a:t>48%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9680" y="4892040"/>
            <a:ext cx="2743200" cy="6400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56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Nul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4892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BBF24"/>
                </a:solidFill>
                <a:latin typeface="Calibri Light"/>
              </a:defRPr>
            </a:pPr>
            <a:r>
              <a:t>22%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5669280"/>
            <a:ext cx="2743200" cy="6400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256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Exterieur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5669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94A3B8"/>
                </a:solidFill>
                <a:latin typeface="Calibri Light"/>
              </a:defRPr>
            </a:pPr>
            <a:r>
              <a:t>30%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N-Tiers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Backend as a Service -- communication via API 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34747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2004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4480" y="1737360"/>
            <a:ext cx="164592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 Light"/>
              </a:defRPr>
            </a:pPr>
            <a: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 Light"/>
              </a:defRPr>
            </a:pPr>
            <a:r>
              <a:t>React + 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2608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926080"/>
            <a:ext cx="54864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Composants Ant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6616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566160"/>
            <a:ext cx="54864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Etat Zustand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0624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206240"/>
            <a:ext cx="54864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Axios HTTP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846319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846319"/>
            <a:ext cx="54864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937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Recharts</a:t>
            </a:r>
          </a:p>
        </p:txBody>
      </p:sp>
      <p:sp>
        <p:nvSpPr>
          <p:cNvPr id="27" name="Chevron 26"/>
          <p:cNvSpPr/>
          <p:nvPr/>
        </p:nvSpPr>
        <p:spPr>
          <a:xfrm>
            <a:off x="4206240" y="3474720"/>
            <a:ext cx="502920" cy="201168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1463040"/>
            <a:ext cx="34747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1463040"/>
            <a:ext cx="32004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94960" y="1737360"/>
            <a:ext cx="1645920" cy="3657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 Light"/>
              </a:defRPr>
            </a:pPr>
            <a:r>
              <a:t>LOGIQUE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 Light"/>
              </a:defRPr>
            </a:pPr>
            <a:r>
              <a:t>Django + DRF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292608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4880" y="2926080"/>
            <a:ext cx="54864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API REST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356616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3566160"/>
            <a:ext cx="54864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Auth JWT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420624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54880" y="4206240"/>
            <a:ext cx="54864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Moteur XGBoost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4846319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4880" y="4846319"/>
            <a:ext cx="54864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4937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Pipeline donnees</a:t>
            </a:r>
          </a:p>
        </p:txBody>
      </p:sp>
      <p:sp>
        <p:nvSpPr>
          <p:cNvPr id="46" name="Chevron 45"/>
          <p:cNvSpPr/>
          <p:nvPr/>
        </p:nvSpPr>
        <p:spPr>
          <a:xfrm>
            <a:off x="8046720" y="3474720"/>
            <a:ext cx="502920" cy="201168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JSON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1463040"/>
            <a:ext cx="34747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58200" y="1463040"/>
            <a:ext cx="32004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35440" y="1737360"/>
            <a:ext cx="164592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 Light"/>
              </a:defRPr>
            </a:pPr>
            <a:r>
              <a:t>DONNEES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 Light"/>
              </a:defRPr>
            </a:pPr>
            <a:r>
              <a:t>SQLite + API-Football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292608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95360" y="2926080"/>
            <a:ext cx="54864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2396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Base locale SQLite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95360" y="356616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95360" y="3566160"/>
            <a:ext cx="54864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2396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API-Football externe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95360" y="4206240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95360" y="4206240"/>
            <a:ext cx="54864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2396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Modele .pkl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0" y="4846319"/>
            <a:ext cx="2926080" cy="502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95360" y="4846319"/>
            <a:ext cx="54864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23960" y="4937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Scaler .pkl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Conception BDD &amp; API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Modele de donnees et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2560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54864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League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id, name, country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2560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54864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33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Season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id, year, 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463040"/>
            <a:ext cx="2560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1463040"/>
            <a:ext cx="54864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team_id, name, logo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560320"/>
            <a:ext cx="2560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2560320"/>
            <a:ext cx="54864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2633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fixture_id, date,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2560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54864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MatchStatistics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69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possession, shots, passes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3657600"/>
            <a:ext cx="256032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657600"/>
            <a:ext cx="54864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MatchLineup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069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 Light"/>
              </a:defRPr>
            </a:pPr>
            <a:r>
              <a:t>formation, XI (JSON)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5960" y="2331720"/>
            <a:ext cx="18288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2926080"/>
            <a:ext cx="36576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92040" y="2331720"/>
            <a:ext cx="18288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65960" y="4069080"/>
            <a:ext cx="169164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92040" y="3429000"/>
            <a:ext cx="18288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 Light"/>
              </a:defRPr>
            </a:pPr>
            <a:r>
              <a:t>Endpoints REST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1920240"/>
            <a:ext cx="4846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40880" y="2057400"/>
            <a:ext cx="7315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2057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 Light"/>
              </a:defRPr>
            </a:pPr>
            <a: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/api/users/login/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2677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Login + JWT tokens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2697480"/>
            <a:ext cx="4846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40880" y="2834640"/>
            <a:ext cx="7315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2834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 Light"/>
              </a:defRPr>
            </a:pPr>
            <a: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/api/matches/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30449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Liste des matchs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3474720"/>
            <a:ext cx="4846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40880" y="3611880"/>
            <a:ext cx="7315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3611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 Light"/>
              </a:defRPr>
            </a:pPr>
            <a: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/api/matches/{id}/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822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Details + stats + lineups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4251960"/>
            <a:ext cx="4846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040880" y="4389120"/>
            <a:ext cx="7315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4389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 Light"/>
              </a:defRPr>
            </a:pPr>
            <a:r>
              <a:t>POST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/api/predictions/predict/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4599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Prediction XGBoost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0" y="5029200"/>
            <a:ext cx="4846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040880" y="5166360"/>
            <a:ext cx="7315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0" y="5166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 Light"/>
              </a:defRPr>
            </a:pPr>
            <a: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/api/predictions/accuracy/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3766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Score de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JWT, Pipeline de donnees &amp;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2004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 Light"/>
              </a:defRPr>
            </a:pPr>
            <a:r>
              <a:t>Authentification JWT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1284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Access Token : 60 min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271576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Refresh Token : multi-jours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21868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Roles : ADMIN / USER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72160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Auto-creation du profil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46304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1463040"/>
            <a:ext cx="32004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 Light"/>
              </a:defRPr>
            </a:pPr>
            <a:r>
              <a:t>Pipeline de Donnees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221284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Management Commands Django</a:t>
            </a:r>
          </a:p>
        </p:txBody>
      </p:sp>
      <p:sp>
        <p:nvSpPr>
          <p:cNvPr id="26" name="Oval 25"/>
          <p:cNvSpPr/>
          <p:nvPr/>
        </p:nvSpPr>
        <p:spPr>
          <a:xfrm>
            <a:off x="4800600" y="271576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Batch : 20 matchs max / exec</a:t>
            </a:r>
          </a:p>
        </p:txBody>
      </p:sp>
      <p:sp>
        <p:nvSpPr>
          <p:cNvPr id="28" name="Oval 27"/>
          <p:cNvSpPr/>
          <p:nvPr/>
        </p:nvSpPr>
        <p:spPr>
          <a:xfrm>
            <a:off x="4800600" y="321868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3154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Rate limit : 6.2s entre requetes</a:t>
            </a:r>
          </a:p>
        </p:txBody>
      </p:sp>
      <p:sp>
        <p:nvSpPr>
          <p:cNvPr id="30" name="Oval 29"/>
          <p:cNvSpPr/>
          <p:nvPr/>
        </p:nvSpPr>
        <p:spPr>
          <a:xfrm>
            <a:off x="4800600" y="372160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Filtre : matchs termines (FT)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46304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58200" y="1463040"/>
            <a:ext cx="32004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 Light"/>
              </a:defRPr>
            </a:pPr>
            <a:r>
              <a:t>Endpoint Prediction</a:t>
            </a:r>
          </a:p>
        </p:txBody>
      </p:sp>
      <p:sp>
        <p:nvSpPr>
          <p:cNvPr id="35" name="Oval 34"/>
          <p:cNvSpPr/>
          <p:nvPr/>
        </p:nvSpPr>
        <p:spPr>
          <a:xfrm>
            <a:off x="8641080" y="221284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Modele .pkl charge en RAM</a:t>
            </a:r>
          </a:p>
        </p:txBody>
      </p:sp>
      <p:sp>
        <p:nvSpPr>
          <p:cNvPr id="37" name="Oval 36"/>
          <p:cNvSpPr/>
          <p:nvPr/>
        </p:nvSpPr>
        <p:spPr>
          <a:xfrm>
            <a:off x="8641080" y="271576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25 stats -&gt; normalisation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641080" y="321868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3154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XGBoost -&gt; probabilites</a:t>
            </a:r>
          </a:p>
        </p:txBody>
      </p:sp>
      <p:sp>
        <p:nvSpPr>
          <p:cNvPr id="41" name="Oval 40"/>
          <p:cNvSpPr/>
          <p:nvPr/>
        </p:nvSpPr>
        <p:spPr>
          <a:xfrm>
            <a:off x="8641080" y="372160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Reponse &lt; 0.5 seconde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572000"/>
            <a:ext cx="1088136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 Light"/>
              </a:defRPr>
            </a:pPr>
            <a:r>
              <a:t>Flux de Prediction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212080"/>
            <a:ext cx="1371600" cy="8229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5840" y="5212080"/>
            <a:ext cx="11887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Client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Requete</a:t>
            </a:r>
          </a:p>
        </p:txBody>
      </p:sp>
      <p:sp>
        <p:nvSpPr>
          <p:cNvPr id="49" name="Chevron 48"/>
          <p:cNvSpPr/>
          <p:nvPr/>
        </p:nvSpPr>
        <p:spPr>
          <a:xfrm>
            <a:off x="2359152" y="5486400"/>
            <a:ext cx="320040" cy="18288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697480" y="5212080"/>
            <a:ext cx="1371600" cy="8229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88920" y="5212080"/>
            <a:ext cx="11887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JWT</a:t>
            </a:r>
          </a:p>
        </p:txBody>
      </p:sp>
      <p:sp>
        <p:nvSpPr>
          <p:cNvPr id="54" name="Chevron 53"/>
          <p:cNvSpPr/>
          <p:nvPr/>
        </p:nvSpPr>
        <p:spPr>
          <a:xfrm>
            <a:off x="4142232" y="5486400"/>
            <a:ext cx="320040" cy="18288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80560" y="5212080"/>
            <a:ext cx="1371600" cy="8229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0" y="5212080"/>
            <a:ext cx="11887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Stats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25 features</a:t>
            </a:r>
          </a:p>
        </p:txBody>
      </p:sp>
      <p:sp>
        <p:nvSpPr>
          <p:cNvPr id="59" name="Chevron 58"/>
          <p:cNvSpPr/>
          <p:nvPr/>
        </p:nvSpPr>
        <p:spPr>
          <a:xfrm>
            <a:off x="5925312" y="5486400"/>
            <a:ext cx="320040" cy="18288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263640" y="5212080"/>
            <a:ext cx="1371600" cy="8229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55080" y="5212080"/>
            <a:ext cx="11887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Scaler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Normalise</a:t>
            </a:r>
          </a:p>
        </p:txBody>
      </p:sp>
      <p:sp>
        <p:nvSpPr>
          <p:cNvPr id="64" name="Chevron 63"/>
          <p:cNvSpPr/>
          <p:nvPr/>
        </p:nvSpPr>
        <p:spPr>
          <a:xfrm>
            <a:off x="7708392" y="5486400"/>
            <a:ext cx="320040" cy="18288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046720" y="5212080"/>
            <a:ext cx="1371600" cy="8229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38160" y="5212080"/>
            <a:ext cx="11887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XGBoost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Inference</a:t>
            </a:r>
          </a:p>
        </p:txBody>
      </p:sp>
      <p:sp>
        <p:nvSpPr>
          <p:cNvPr id="69" name="Chevron 68"/>
          <p:cNvSpPr/>
          <p:nvPr/>
        </p:nvSpPr>
        <p:spPr>
          <a:xfrm>
            <a:off x="9491472" y="5486400"/>
            <a:ext cx="320040" cy="18288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829800" y="5212080"/>
            <a:ext cx="1371600" cy="8229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921240" y="5212080"/>
            <a:ext cx="11887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2980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JSON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980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H/D/A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Frontend &amp;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React + Vite | Ant Design | Recharts | Zustand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68580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1371600" cy="50292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 Light"/>
              </a:defRPr>
            </a:pPr>
            <a:r>
              <a:t>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103120"/>
            <a:ext cx="10972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06039"/>
            <a:ext cx="10972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517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Matchs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08960"/>
            <a:ext cx="109728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 Light"/>
              </a:defRPr>
            </a:pPr>
            <a:r>
              <a:t>Predictions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11880"/>
            <a:ext cx="10972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1554480"/>
            <a:ext cx="5303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Calibri Light"/>
              </a:defRPr>
            </a:pPr>
            <a:r>
              <a:t>Football Prediction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2286000"/>
            <a:ext cx="4937760" cy="14630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2286000"/>
            <a:ext cx="475488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Team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Calibri Light"/>
              </a:defRPr>
            </a:pPr>
            <a:r>
              <a:t>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Team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Calibri Light"/>
              </a:defRPr>
            </a:pPr>
            <a:r>
              <a:t>52%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Calibri Light"/>
              </a:defRPr>
            </a:pPr>
            <a: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834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4A3B8"/>
                </a:solidFill>
                <a:latin typeface="Calibri Light"/>
              </a:defRPr>
            </a:pPr>
            <a:r>
              <a:t>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246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 Light"/>
              </a:defRPr>
            </a:pPr>
            <a:r>
              <a:t>Domicile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246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 Light"/>
              </a:defRPr>
            </a:pPr>
            <a:r>
              <a:t>Nul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246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 Light"/>
              </a:defRPr>
            </a:pPr>
            <a:r>
              <a:t>Exterieur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3931920"/>
            <a:ext cx="2286000" cy="2286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4023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 Light"/>
              </a:defRPr>
            </a:pPr>
            <a:r>
              <a:t>Radar Tactique</a:t>
            </a:r>
          </a:p>
        </p:txBody>
      </p:sp>
      <p:sp>
        <p:nvSpPr>
          <p:cNvPr id="36" name="Oval 35"/>
          <p:cNvSpPr/>
          <p:nvPr/>
        </p:nvSpPr>
        <p:spPr>
          <a:xfrm>
            <a:off x="3383280" y="4617720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58416" y="4892040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58416" y="5440680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83280" y="5715000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08143" y="5440680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08143" y="4892040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54880" y="3931920"/>
            <a:ext cx="2651760" cy="2286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 Light"/>
              </a:defRPr>
            </a:pPr>
            <a:r>
              <a:t>Compositions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389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4-3-3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389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4-2-3-1</a:t>
            </a:r>
          </a:p>
        </p:txBody>
      </p:sp>
      <p:sp>
        <p:nvSpPr>
          <p:cNvPr id="46" name="Oval 45"/>
          <p:cNvSpPr/>
          <p:nvPr/>
        </p:nvSpPr>
        <p:spPr>
          <a:xfrm>
            <a:off x="5509259" y="475488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89220" y="516636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09259" y="516636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829300" y="516636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89220" y="557784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09259" y="557784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29300" y="557784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029200" y="598932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349240" y="598932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669280" y="598932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989320" y="598932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23659" y="475488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43600" y="516636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63640" y="516636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83680" y="516636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903720" y="516636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03620" y="55778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23659" y="55778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43700" y="55778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63640" y="598932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83679" y="598932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B8A6"/>
                </a:solidFill>
                <a:latin typeface="Calibri Light"/>
              </a:defRPr>
            </a:pPr>
            <a:r>
              <a:t>Composants Cles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1965960"/>
            <a:ext cx="3840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6720" y="1965960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21040" y="2011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Zustand Store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Login JWT decode, logout, tokens en localStorage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20" y="2743200"/>
            <a:ext cx="3840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46720" y="2743200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21040" y="2788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Axios Interceptor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063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Injection auto du Bearer Token sur chaque requete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46720" y="3520439"/>
            <a:ext cx="3840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0" y="3520439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21040" y="35661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Theme Ant Design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8404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Navy + Teal via ConfigProvider global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46720" y="4297679"/>
            <a:ext cx="3840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46720" y="4297679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21040" y="434339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Radar Recharts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040" y="46177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Superposition tactique Home vs Away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046720" y="5074920"/>
            <a:ext cx="3840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046720" y="5074920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21040" y="5120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Responsive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5394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Desktop 1920x1080 + Tablette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46720" y="5852160"/>
            <a:ext cx="3840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46720" y="5852160"/>
            <a:ext cx="5486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1040" y="5897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Error Handling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6172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Interceptor + notifications AntD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Tests &amp; Resultats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Validation du modele IA et de l'API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41148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8404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4B8A6"/>
                </a:solidFill>
                <a:latin typeface="Calibri"/>
              </a:defRPr>
            </a:pPr>
            <a:r>
              <a:t>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 Light"/>
              </a:defRPr>
            </a:pPr>
            <a:r>
              <a:t>Precision Globale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Au-dessus du seuil de 55%</a:t>
            </a:r>
            <a:br/>
            <a:r>
              <a:t>considere comme rentable en prediction sportive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4114800" cy="4114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256032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502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62%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9502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&gt; 55% seuil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Train /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 Light"/>
              </a:defRPr>
            </a:pPr>
            <a:r>
              <a:t>80% / 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463040"/>
            <a:ext cx="64008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57800" y="1463040"/>
            <a:ext cx="61264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 Light"/>
              </a:defRPr>
            </a:pPr>
            <a:r>
              <a:t>Tests API  --  5/5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1645920"/>
            <a:ext cx="137160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 Light"/>
              </a:defRPr>
            </a:pPr>
            <a:r>
              <a:t>ALL PASS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0" y="2286000"/>
            <a:ext cx="228600" cy="228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2585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Login valide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200 + tokens JWT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0" y="2743200"/>
            <a:ext cx="228600" cy="228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7157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Mauvais mot de passe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401 Unauthorized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3200400"/>
            <a:ext cx="228600" cy="228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3172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Route sans 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401 Unauthorized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0" y="3657600"/>
            <a:ext cx="228600" cy="228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36301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Route admin sans 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403 Forbidden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0" y="4114800"/>
            <a:ext cx="228600" cy="228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40873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 Light"/>
              </a:defRPr>
            </a:pPr>
            <a: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Prediction sur match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200 + probabilites H/D/A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029200"/>
            <a:ext cx="53035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5029200"/>
            <a:ext cx="54864" cy="1463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120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 Light"/>
              </a:defRPr>
            </a:pPr>
            <a:r>
              <a:t>Impact SMOTE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486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>
                <a:solidFill>
                  <a:srgbClr val="CBD5E1"/>
                </a:solidFill>
                <a:latin typeface="Calibri Light"/>
              </a:rPr>
              <a:t>Recall des matchs nuls significativement ameliore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CBD5E1"/>
                </a:solidFill>
                <a:latin typeface="Calibri Light"/>
              </a:rPr>
              <a:t>Reduction du biais systematique vers l'equipe domicile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5029200"/>
            <a:ext cx="53035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5029200"/>
            <a:ext cx="54864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120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 Light"/>
              </a:defRPr>
            </a:pPr>
            <a:r>
              <a:t>Limites Identifiees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486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>
                <a:solidFill>
                  <a:srgbClr val="CBD5E1"/>
                </a:solidFill>
                <a:latin typeface="Calibri Light"/>
              </a:rPr>
              <a:t>API-Football : quotas limites pour ligues mineures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CBD5E1"/>
                </a:solidFill>
                <a:latin typeface="Calibri Light"/>
              </a:rPr>
              <a:t>Pas de donnees meteo, transferts ou etat psychologique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Limites &amp; 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Axes d'amelioration du systeme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 Light"/>
              </a:defRPr>
            </a:pPr>
            <a:r>
              <a:t>Limites actuelles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50292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4864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Dependance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Quotas limites pour les ligues mineures en version gratuite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0292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54864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Donnees manquantes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Meteo, blessures de derniere minute, etat psychologique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0292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4864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Scalabilite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SQLite non adapte pour des milliers d'utilisateurs simultanes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 Light"/>
              </a:defRPr>
            </a:pPr>
            <a:r>
              <a:t>Perspectives d'evolution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920240"/>
            <a:ext cx="50292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92024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1945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057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Deep Learning &amp; RNN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377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Capturer les patterns temporels</a:t>
            </a:r>
            <a:br/>
            <a:r>
              <a:t>des sequences de matchs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154680"/>
            <a:ext cx="50292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15468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338328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29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291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Donnees Individuelles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611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Blessures, suspensions, xG</a:t>
            </a:r>
            <a:br/>
            <a:r>
              <a:t>par joueur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389120"/>
            <a:ext cx="50292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38912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6177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6634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526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Marches Financiers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8463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 Light"/>
              </a:defRPr>
            </a:pPr>
            <a:r>
              <a:t>Overlay des cotes bookmakers</a:t>
            </a:r>
            <a:br/>
            <a:r>
              <a:t>en temps reel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303520"/>
            <a:ext cx="1088136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303520"/>
            <a:ext cx="1060704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Vision : Transformer ce projet academique en plateforme professionnelle d'aide a la decision sportive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B8A6"/>
                </a:solidFill>
                <a:latin typeface="Calibri Light"/>
              </a:defRPr>
            </a:pPr>
            <a:r>
              <a:t>Clubs de football  |  Analystes sportifs  |  Medias  |  Parieurs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029200"/>
            <a:ext cx="2286000" cy="2286000"/>
          </a:xfrm>
          <a:prstGeom prst="ellipse">
            <a:avLst/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486400"/>
            <a:ext cx="1828800" cy="18288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04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Bilan du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32004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11680" y="182880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892807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 Light"/>
              </a:defRPr>
            </a:pPr>
            <a:r>
              <a:t>Genie Logiciel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Architecture N-Tiers, REST API,</a:t>
            </a:r>
            <a:br/>
            <a:r>
              <a:t>JWT, Pipeline automatise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46304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1463040"/>
            <a:ext cx="32004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182880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1892807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 Light"/>
              </a:defRPr>
            </a:pPr>
            <a:r>
              <a:t>Data Science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108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XGBoost, SMOTE, Feature</a:t>
            </a:r>
            <a:br/>
            <a:r>
              <a:t>Engineering, 62% precision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747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463040"/>
            <a:ext cx="32004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0" y="182880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892807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 Light"/>
              </a:defRPr>
            </a:pPr>
            <a:r>
              <a:t>Experience Utilisateur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108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 Light"/>
              </a:defRPr>
            </a:pPr>
            <a:r>
              <a:t>React, Ant Design, Recharts,</a:t>
            </a:r>
            <a:br/>
            <a:r>
              <a:t>Design analytique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 Light"/>
              </a:defRPr>
            </a:pPr>
            <a:r>
              <a:t>Realisations Cles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81888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Systeme complet : collecte -&gt; structuration -&gt; prediction -&gt; visualisation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27608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Pipeline automatise avec gestion intelligente des limites API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73328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Interface analytique permettant une prise de decision instantanee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6190488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 Light"/>
              </a:defRPr>
            </a:pPr>
            <a:r>
              <a:t>62% de precision -- au-dessus du seuil de rentabilite en prediction sportive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2DD4B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4B8A6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286000" cy="2286000"/>
          </a:xfrm>
          <a:prstGeom prst="ellipse">
            <a:avLst/>
          </a:prstGeom>
          <a:solidFill>
            <a:srgbClr val="2DD4B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Merci pour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B8A6"/>
                </a:solidFill>
                <a:latin typeface="Calibri"/>
              </a:defRPr>
            </a:pPr>
            <a:r>
              <a:t>votre attention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657600"/>
            <a:ext cx="27432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 Light"/>
              </a:defRPr>
            </a:pPr>
            <a:r>
              <a:t>Questions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Z. Zerrari  |  M. Aboujid  |  I. Hajjad  |  M.A. Ziyani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EMSI Tanger  |  3IIR  |  2025 - 2026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