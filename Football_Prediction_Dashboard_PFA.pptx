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4B8A6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200400" cy="320040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Football Prediction</a:t>
            </a:r>
            <a:br/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4B8A6"/>
                </a:solidFill>
                <a:latin typeface="Calibri"/>
              </a:defRPr>
            </a:pPr>
            <a:r>
              <a:t>Analyse et Prédiction des Résultats de Football en Temps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365760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Projet de Fin d'Année  ·  3IIR  ·  2025 –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Z. Zerrari   ·   M. Aboujid   ·   I. Hajjad   ·   M.A. Ziyani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Encadrante : Pr. Wafae ELKAYSOUNI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École Marocaine des Sciences de l'Ingénieur — EMSI Tanger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81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Contexte &amp; Enjeux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39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Objectifs du Projet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78608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797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980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État de l'Art &amp; Choix du Modèle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236976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Cahier des Charges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95344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Choix Technologiques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53712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773167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SMOTE &amp; Déséquilibre des Classes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212079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13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315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XGBoost — Fondements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870448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8132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139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Architecture N-Tiers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578608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27797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7980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Conception BDD &amp; API REST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36976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4381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456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Implémentation Backend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895344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Implémentation Frontend &amp; 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53712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7548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73167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Tests &amp; Résultats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212079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4132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43153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870448"/>
            <a:ext cx="45720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Contexte &amp; Enjeux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L'ère du Big Data dans l'analyse sportive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▹  Le football génère des volumes massifs de données tactiques et statistiques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▹  Les analyses subjectives cèdent la place à la data science quantifiable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▹  Les fournisseurs comme API-Football offrent possession, tirs, passes, formations...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BD5E1"/>
                </a:solidFill>
                <a:latin typeface="Calibri"/>
              </a:rPr>
              <a:t>▹  Défi central : transformer ces données brutes en signaux prédictifs exploitables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463040"/>
            <a:ext cx="47548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47548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002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Problématique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0116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Forte incertitude dans les résultats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Difficulté particulière à prédire les matchs nuls (~25%)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108960"/>
            <a:ext cx="47548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108960"/>
            <a:ext cx="47548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246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Opportunité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Données quantifiables : possession %, tirs cadrés, précision passes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ML peut capter des patterns non-linéaires invisibles à l'œil humain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4B8A6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Victoire domicile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39" y="493776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39" y="5074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4B8A6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39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Match nul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59" y="4937760"/>
            <a:ext cx="18288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5074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4B8A6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Victoire extérieur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Objectifs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Football Prediction Dashboard — 4 axes stratégiques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830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Ingestion Automatisée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Collecte automatique de données historiques et tactiques via API-Football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0" y="17373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55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7830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Modélisation Prédictive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Machine Learning (XGBoost) pour calculer les probabilités Domicile / Nul / Extérieur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2976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Interface Visuelle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29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Dashboard moderne et ergonomique pour la prise de décision (React + Recharts)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23360"/>
            <a:ext cx="530352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02336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0" y="429768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315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343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Sécurité &amp; Rôles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0292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Authentification JWT avec gestion de rôles (Utilisateur / Administrateur)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État de l'Art &amp; Choix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 Poisson (1982) au Gradient Boosting moderne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972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1982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Maher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Distribution de Poisson</a:t>
            </a:r>
            <a:br/>
            <a:r>
              <a:t>pour modéliser les buts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10972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Dixon &amp; Coles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Correction pour</a:t>
            </a:r>
            <a:br/>
            <a:r>
              <a:t>scores faibles (0-0, 1-0)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10972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Chen &amp; Guestrin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XGBoost — Gradient</a:t>
            </a:r>
            <a:br/>
            <a:r>
              <a:t>Boosting à l'état de l'art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1783080"/>
            <a:ext cx="1033272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6576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Modèle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Précision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Interprétabilité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Complexité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Régression Logistique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Faible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Bonne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Faible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Bonne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  ✦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Très haute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Moyenne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Haute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Exigences fonctionnelles et non-fonctionnelles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029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Utilisateur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Consulter le calendrier des matchs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Analyser les compositions (formations 4-3-3, etc.)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Demander une prédiction IA (probabilités H/D/A)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Comparer les tactiques via Radar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292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Administrateur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Gestion des accès utilisateurs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Synchronisation manuelle des données API-Football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Supervision des performances du modèle IA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Monitoring : matrice de confusion +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Exigences Non-Fonctionnelles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83480"/>
            <a:ext cx="105156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◆ Sécurité — </a:t>
            </a:r>
            <a:r>
              <a:rPr sz="1400">
                <a:solidFill>
                  <a:srgbClr val="CBD5E1"/>
                </a:solidFill>
                <a:latin typeface="Calibri"/>
              </a:rPr>
              <a:t>Authentification JWT, mots de passe chiffrés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◆ Qualité — </a:t>
            </a:r>
            <a:r>
              <a:rPr sz="1400">
                <a:solidFill>
                  <a:srgbClr val="CBD5E1"/>
                </a:solidFill>
                <a:latin typeface="Calibri"/>
              </a:rPr>
              <a:t>Unicité fixture_id pour éviter les doublons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◆ Performance — </a:t>
            </a:r>
            <a:r>
              <a:rPr sz="1400">
                <a:solidFill>
                  <a:srgbClr val="CBD5E1"/>
                </a:solidFill>
                <a:latin typeface="Calibri"/>
              </a:rPr>
              <a:t>Réponse IA &lt; 0.5 seconde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◆ Résilience — </a:t>
            </a:r>
            <a:r>
              <a:rPr sz="1400">
                <a:solidFill>
                  <a:srgbClr val="CBD5E1"/>
                </a:solidFill>
                <a:latin typeface="Calibri"/>
              </a:rPr>
              <a:t>Gestion gracieuse des lineups incomplets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Choix Technologiques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Stack technique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Django + DRF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Backend REST API, gestion JWT,</a:t>
            </a:r>
            <a:br/>
            <a:r>
              <a:t>orchestration du pipeline 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39" y="164592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103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React + 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SPA moderne, Ant Design UI,</a:t>
            </a:r>
            <a:br/>
            <a:r>
              <a:t>Recharts pour les visualisations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164592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Gradient Boosting optimisé,</a:t>
            </a:r>
            <a:br/>
            <a:r>
              <a:t>modèle multi-classe softprob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29768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État Global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State management léger,</a:t>
            </a:r>
            <a:br/>
            <a:r>
              <a:t>alternatif à Redux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411480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63439" y="429768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39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Source de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API-Football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Données historiques complètes :</a:t>
            </a:r>
            <a:br/>
            <a:r>
              <a:t>résultats, lineups, statistiques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114800"/>
            <a:ext cx="33832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4297680"/>
            <a:ext cx="182880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754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2578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Base de données embarquée,</a:t>
            </a:r>
            <a:br/>
            <a:r>
              <a:t>stockage local des données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SMOTE &amp; Déséquilibre des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Synthetic Minority Over-sampling Technique (Chawla et al., 2002)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B8A6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✗  Distribution inégale : Domicile ~45%, Extérieur ~30%, Nul ~25%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✗  Sans correction → biais vers l'équipe à domicile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✗  Le modèle échoue à prédire les matchs nuls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4B8A6"/>
                </a:solidFill>
                <a:latin typeface="Calibri"/>
              </a:defRPr>
            </a:pPr>
            <a:r>
              <a:t>La Solution — SMOTE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Crée des exemples synthétiques entre points minoritaires existants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Utilise les k plus proches voisins pour générer de nouvelles données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Force le modèle à apprendre les caractéristiques des « Nuls 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0292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029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Formule SMOTE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x_syn = x_i + λ × (x_zi − x_i)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·  λ ∈ [0, 1] — facteur aléatoire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·  x_zi — k-ème plus proche voisin de x_i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38912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50292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Impact Mesuré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 Recall de la classe « Nul » significativement amélioré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 Le modèle détecte les vraies probabilités de nul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▸  Réduction du biais systématique vers l'équipe domicile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XGBoost — Fondements Mathématiques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Extreme Gradient Boosting (Chen &amp; Guestrin, 2016)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Construction séquentielle d'arbres de décision — chaque arbre corrige les erreurs du précédent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Fonction Objectif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L⁽ᵗ⁾ = Σ l(yᵢ, ŷᵢ⁽ᵗ⁻¹⁾ + fₜ(xᵢ)) + Ω(fₜ)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Erreur de prédiction + Pénalité de complexité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9456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Régularisation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Ω(f) = γT + ½λ Σ wⱼ²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747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 = nombre de feuilles, wⱼ = poids des feuilles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08813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88136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Adaptation Multi-Classe — Softmax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P(y=k|x) = e^(zₖ) / Σ e^(zⱼ)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Objectif : multi:softprob</a:t>
            </a:r>
            <a:br/>
            <a:r>
              <a:t>Sortie : distribution de probabilités</a:t>
            </a:r>
            <a:br/>
            <a:r>
              <a:t>Exemple → Dom 45% | Nul 20% | Ext 35%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25 caractéristiques extraites et normalisées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Forme Récente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Points des 5 derniers matchs (3/1/0)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Séquence de victoires / défaites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Statistiques de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Possession %, tirs cadrés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Précision des passes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Corners, fautes, hors-jeu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Ratios de Buts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Moyenne de buts marqués (saison)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Moyenne de buts encaissés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Ratio attaque / défense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931920"/>
            <a:ext cx="530352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93192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Avantage Domicile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8056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Variable binaire domicile/extérieur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Historique de performance à domicile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88136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Normalisation — StandardScaler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onsolas"/>
              </a:defRPr>
            </a:pPr>
            <a:r>
              <a:t>z = (x − μ) / 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806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25 variables numériques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N-Tiers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Backend as a Service — Communication via API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Couche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Composants UI (Ant Design)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État global (Zustand)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Client HTTP (Axios)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Visualisations (Recharts)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Couche Logique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Django + DRF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API REST Framework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Auth JWT (SimpleJWT)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Moteur ML (XGBoost)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Pipeline de 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  <a:latin typeface="Calibri"/>
              </a:defRPr>
            </a:pPr>
            <a:r>
              <a:t>Couche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SQLite + API-Football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Base SQLite (locale)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API-Football (externe)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Modèle .pkl (XGBoost)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•  Scaler .pkl (StandardScaler)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60520" y="3474720"/>
            <a:ext cx="320040" cy="32004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818120" y="3474720"/>
            <a:ext cx="320040" cy="32004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6355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Communication : JSON / HTTP entre chaque couche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Conception BDD &amp; Catalogue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Modélisation des données et endpoints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Entités de la Base de Données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League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74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id, name, country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Season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23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id, year, start_date, end_date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team_id, name, logo_url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20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fixture_id, date, status, score_home, score_away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MatchStatistics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possession, shots, passes_acc (1:1 Match)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B8A6"/>
                </a:solidFill>
                <a:latin typeface="Calibri"/>
              </a:defRPr>
            </a:pPr>
            <a:r>
              <a:t>MatchLineup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617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home_formation, away_formation, xi (JSON)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Catalogue API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0292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0" y="1920240"/>
            <a:ext cx="7315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920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/api/users/login/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148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Login &amp; JWT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514600"/>
            <a:ext cx="50292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260604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606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5877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/api/matches/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834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Liste des matchs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200400"/>
            <a:ext cx="50292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0" y="329184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291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3273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/api/matches/{id}/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Détails match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886200"/>
            <a:ext cx="50292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83680" y="3977640"/>
            <a:ext cx="7315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977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3959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/api/predictions/predict/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Prédiction 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572000"/>
            <a:ext cx="50292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0" y="4663440"/>
            <a:ext cx="731520" cy="320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645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/api/predictions/accuracy/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Score performance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JSONField pour les lineups — stockage direct de l'objet</a:t>
            </a:r>
            <a:br/>
            <a:r>
              <a:t>composition depuis API-Football (évite des milliers de lignes)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Implémentation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JWT, Pipeline de données &amp; Endpoint de prédiction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383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Authentification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Access Token : 60 min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Refresh Token : multi-jours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UserProfile : rôle ADMIN/USER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Signal post_save auto-crée le profil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Permission IsAdminRole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338328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63040"/>
            <a:ext cx="3383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Pipeline de 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Django Management Commands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Batch : max 20 matchs / exécution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Délai 6.2s entre requêtes (rate limit)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Filtre : matchs terminés (FT) uniquement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Arrêt gracieux si limite API atteinte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38328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383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Endpoint Prédiction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Chargement modèle .pkl en RAM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25 statistiques → normalisation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Requête XGBoost → probabilités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Réponse JSON sécurisée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Temps de réponse &lt; 0.5s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88136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Flux de Prédiction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349240"/>
            <a:ext cx="1463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Requête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349240"/>
            <a:ext cx="11887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394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Auth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349240"/>
            <a:ext cx="1463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5394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Récup. 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5349240"/>
            <a:ext cx="1463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Normalisation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5349240"/>
            <a:ext cx="118872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394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394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5349240"/>
            <a:ext cx="14630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5394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Probabilités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Implémentation Frontend &amp; UI/UX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 + Vite · Ant Design · Recharts · Zustand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State Management — Zustand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login() : JWT decode → extraction user_id, username, rôle → localStorage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logout() : nettoyage complet du stockage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Axios Interceptor : injection automatique du Bearer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Charte Graphique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Navy (#0f172a) pour la structure (Menu, Header)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Teal (#14b8a6) comme couleur d'accent pour les actions prédictives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Ant Design ConfigProvider pour le thème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B8A6"/>
                </a:solidFill>
                <a:latin typeface="Calibri"/>
              </a:defRPr>
            </a:pPr>
            <a:r>
              <a:t>Dashboard Analytique — Composants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▸ Zone de Contrôle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Sélecteur Navy pour cibler un match spécifique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▸ Hero Banner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892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Logos équipes, badges de forme récente (V/N/D), prédiction principale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▸ Radar Tactique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Superposition Home vs Away — Possession, Passes, Tirs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▸ Compositions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080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Schéma tactique (4-2-3-1) + liste des XI titulaires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Tests, Validation &amp;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Évaluation du modèle IA et validation de l'API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20040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004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4B8A6"/>
                </a:solidFill>
                <a:latin typeface="Calibri"/>
              </a:defRPr>
            </a:pPr>
            <a: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Précision Globale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&gt; 55% = seuil de rentabilité</a:t>
            </a:r>
            <a:br/>
            <a:r>
              <a:t>en prédiction sportive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63040"/>
            <a:ext cx="3383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Évaluation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Split 80/20 train/test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Matrice de confusion multi-classe (H/D/A)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SMOTE : recall « Nul » amélioré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Réduction du biais domicile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Monitoring sur dashboard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38328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38328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Tests API (Postman + pytest)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✅  Login valide → 200 + tokens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✅  Mauvais mdp → 401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✅  Route protégée sans token → 401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✅  Route admin sans rôle → 403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•  ✅  Prédiction sur match → 200 + H/D/A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088136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Validation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◆  Responsive : Desktop (1920×1080) + Tablette — graphiques Recharts redimensionnables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◆  Gestion d'erreurs : Axios interceptor → messages via AntD Alert/Notification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CBD5E1"/>
                </a:solidFill>
                <a:latin typeface="Calibri"/>
              </a:rPr>
              <a:t>◆  5/5 scénarios de test passés avec succès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Limites Identifiées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⚠  API-Football : quotas limités pour ligues mineures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⚠  Pas de données météo, transferts, état psychologique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  <a:latin typeface="Calibri"/>
              </a:rPr>
              <a:t>⚠  SQLite : scalabilité limitée pour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4114800" cy="411480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Bilan du projet et axes d'évolution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0972800" cy="25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"/>
              </a:defRPr>
            </a:pPr>
            <a:r>
              <a:t>Bilan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Maîtrise de 3 domaines : Génie Logiciel, Data Science, UX Design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Pipeline complet : collecte → structuration → prédiction → visualisation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Authentification JWT + protection des ressources par rôles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Batch processing intelligent avec gestion des limites API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Interface analytique permettant une prise de décision instantanée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CBD5E1"/>
                </a:solidFill>
                <a:latin typeface="Calibri"/>
              </a:rPr>
              <a:t>✓  62% de précision — au-dessus du seuil de rentabilité en prédiction sportive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B8A6"/>
                </a:solidFill>
                <a:latin typeface="Calibri"/>
              </a:defRPr>
            </a:pPr>
            <a:r>
              <a:t>Perspectives d'Évolution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54864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48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Deep Learning &amp; RNN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Capturer les patterns temporels</a:t>
            </a:r>
            <a:br/>
            <a:r>
              <a:t>(séquences de matchs)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50292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383280"/>
            <a:ext cx="54864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520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20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Données Individuelles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86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Blessures, suspensions, xG par</a:t>
            </a:r>
            <a:br/>
            <a:r>
              <a:t>joueur dans le feature 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50292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754880"/>
            <a:ext cx="54864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Marchés Financiers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257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Overlay des cotes bookmakers</a:t>
            </a:r>
            <a:br/>
            <a:r>
              <a:t>en temps réel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0720"/>
            <a:ext cx="1097280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Objectif : transformer ce projet académique en plateforme professionnelle d'aide à la décision sportive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